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 interviews: 15 patients (ID001, 003-007, 011-013, 015-020) and 6 clinicians: internal medicine physician (ID002), RN (ID008), PAs (ID009, ID014), emergency medicine doctor (ID010), genetics counselor (D021). Genetics counselor: family history from Epic, an Ambry Care chatbot and paper questionnaires is entered by hand into Progeny, a desktop pedigree tool, one relative at a time; only ~20% of patients return the pre-visit questionnaire.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709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949440" y="2560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Team 709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11480"/>
            <a:ext cx="58521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41148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HEARD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21 interviews: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15 patients, 2 PAs, an ER doctor, a genetics counselor, an internist and an RN.</a:t>
            </a:r>
            <a:endParaRPr lang="en-US" sz="1400" dirty="0"/>
          </a:p>
        </p:txBody>
      </p:sp>
      <p:sp>
        <p:nvSpPr>
          <p:cNvPr id="4" name="Card 1"/>
          <p:cNvSpPr/>
          <p:nvPr/>
        </p:nvSpPr>
        <p:spPr>
          <a:xfrm>
            <a:off x="457200" y="1600200"/>
            <a:ext cx="1920240" cy="23317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Card 1 label"/>
          <p:cNvSpPr txBox="1"/>
          <p:nvPr/>
        </p:nvSpPr>
        <p:spPr>
          <a:xfrm>
            <a:off x="594360" y="17373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accent1"/>
                </a:solidFill>
              </a:rPr>
              <a:t>15 PATIENTS</a:t>
            </a:r>
            <a:endParaRPr lang="en-US" sz="900" dirty="0"/>
          </a:p>
        </p:txBody>
      </p:sp>
      <p:sp>
        <p:nvSpPr>
          <p:cNvPr id="6" name="Card 1 heading"/>
          <p:cNvSpPr txBox="1"/>
          <p:nvPr/>
        </p:nvSpPr>
        <p:spPr>
          <a:xfrm>
            <a:off x="594360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runs in the family. But who?</a:t>
            </a:r>
            <a:endParaRPr lang="en-US" sz="1500" dirty="0"/>
          </a:p>
        </p:txBody>
      </p:sp>
      <p:sp>
        <p:nvSpPr>
          <p:cNvPr id="7" name="Card 1 body"/>
          <p:cNvSpPr txBox="1"/>
          <p:nvPr/>
        </p:nvSpPr>
        <p:spPr>
          <a:xfrm>
            <a:off x="594360" y="26974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One only learned of an uncle’s young-onset arrhythmia after calling relatives.</a:t>
            </a:r>
            <a:endParaRPr lang="en-US" sz="1200" dirty="0"/>
          </a:p>
        </p:txBody>
      </p:sp>
      <p:sp>
        <p:nvSpPr>
          <p:cNvPr id="8" name="Card 1 source"/>
          <p:cNvSpPr txBox="1"/>
          <p:nvPr/>
        </p:nvSpPr>
        <p:spPr>
          <a:xfrm>
            <a:off x="594360" y="36758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4"/>
                </a:solidFill>
              </a:rPr>
              <a:t>ID007 + 14 more</a:t>
            </a:r>
            <a:endParaRPr lang="en-US" sz="850" dirty="0"/>
          </a:p>
        </p:txBody>
      </p:sp>
      <p:sp>
        <p:nvSpPr>
          <p:cNvPr id="9" name="Card 2"/>
          <p:cNvSpPr/>
          <p:nvPr/>
        </p:nvSpPr>
        <p:spPr>
          <a:xfrm>
            <a:off x="2560320" y="1600200"/>
            <a:ext cx="1920240" cy="23317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Card 2 label"/>
          <p:cNvSpPr txBox="1"/>
          <p:nvPr/>
        </p:nvSpPr>
        <p:spPr>
          <a:xfrm>
            <a:off x="2697480" y="17373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accent1"/>
                </a:solidFill>
              </a:rPr>
              <a:t>2 PHYSICIAN ASSISTANTS</a:t>
            </a:r>
            <a:endParaRPr lang="en-US" sz="900" dirty="0"/>
          </a:p>
        </p:txBody>
      </p:sp>
      <p:sp>
        <p:nvSpPr>
          <p:cNvPr id="11" name="Card 2 heading"/>
          <p:cNvSpPr txBox="1"/>
          <p:nvPr/>
        </p:nvSpPr>
        <p:spPr>
          <a:xfrm>
            <a:off x="2697480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rebuild the story every visit.</a:t>
            </a:r>
            <a:endParaRPr lang="en-US" sz="1500" dirty="0"/>
          </a:p>
        </p:txBody>
      </p:sp>
      <p:sp>
        <p:nvSpPr>
          <p:cNvPr id="12" name="Card 2 body"/>
          <p:cNvSpPr txBox="1"/>
          <p:nvPr/>
        </p:nvSpPr>
        <p:spPr>
          <a:xfrm>
            <a:off x="2697480" y="26974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i="1" dirty="0">
                <a:solidFill>
                  <a:schemeClr val="tx1"/>
                </a:solidFill>
              </a:rPr>
              <a:t>“A result can be technically available but still not be useful until someone puts it into context.”</a:t>
            </a:r>
            <a:endParaRPr lang="en-US" sz="1200" dirty="0"/>
          </a:p>
        </p:txBody>
      </p:sp>
      <p:sp>
        <p:nvSpPr>
          <p:cNvPr id="13" name="Card 2 source"/>
          <p:cNvSpPr txBox="1"/>
          <p:nvPr/>
        </p:nvSpPr>
        <p:spPr>
          <a:xfrm>
            <a:off x="2697480" y="36758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4"/>
                </a:solidFill>
              </a:rPr>
              <a:t>ID009 · ID014</a:t>
            </a:r>
            <a:endParaRPr lang="en-US" sz="850" dirty="0"/>
          </a:p>
        </p:txBody>
      </p:sp>
      <p:sp>
        <p:nvSpPr>
          <p:cNvPr id="14" name="Card 3"/>
          <p:cNvSpPr/>
          <p:nvPr/>
        </p:nvSpPr>
        <p:spPr>
          <a:xfrm>
            <a:off x="4663440" y="1600200"/>
            <a:ext cx="1920240" cy="23317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Card 3 label"/>
          <p:cNvSpPr txBox="1"/>
          <p:nvPr/>
        </p:nvSpPr>
        <p:spPr>
          <a:xfrm>
            <a:off x="4800600" y="17373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accent1"/>
                </a:solidFill>
              </a:rPr>
              <a:t>1 EMERGENCY DOCTOR</a:t>
            </a:r>
            <a:endParaRPr lang="en-US" sz="900" dirty="0"/>
          </a:p>
        </p:txBody>
      </p:sp>
      <p:sp>
        <p:nvSpPr>
          <p:cNvPr id="16" name="Card 3 heading"/>
          <p:cNvSpPr txBox="1"/>
          <p:nvPr/>
        </p:nvSpPr>
        <p:spPr>
          <a:xfrm>
            <a:off x="4800600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a few red flags matter.</a:t>
            </a:r>
            <a:endParaRPr lang="en-US" sz="1500" dirty="0"/>
          </a:p>
        </p:txBody>
      </p:sp>
      <p:sp>
        <p:nvSpPr>
          <p:cNvPr id="17" name="Card 3 body"/>
          <p:cNvSpPr txBox="1"/>
          <p:nvPr/>
        </p:nvSpPr>
        <p:spPr>
          <a:xfrm>
            <a:off x="4800600" y="26974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Chest pain, fainting, a young relative’s sudden death. A flagged summary is more realistic than a full chart.</a:t>
            </a:r>
            <a:endParaRPr lang="en-US" sz="1200" dirty="0"/>
          </a:p>
        </p:txBody>
      </p:sp>
      <p:sp>
        <p:nvSpPr>
          <p:cNvPr id="18" name="Card 3 source"/>
          <p:cNvSpPr txBox="1"/>
          <p:nvPr/>
        </p:nvSpPr>
        <p:spPr>
          <a:xfrm>
            <a:off x="4800600" y="36758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4"/>
                </a:solidFill>
              </a:rPr>
              <a:t>ID010</a:t>
            </a:r>
            <a:endParaRPr lang="en-US" sz="850" dirty="0"/>
          </a:p>
        </p:txBody>
      </p:sp>
      <p:sp>
        <p:nvSpPr>
          <p:cNvPr id="19" name="Card 4"/>
          <p:cNvSpPr/>
          <p:nvPr/>
        </p:nvSpPr>
        <p:spPr>
          <a:xfrm>
            <a:off x="6766560" y="1600200"/>
            <a:ext cx="1920240" cy="23317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Card 4 label"/>
          <p:cNvSpPr txBox="1"/>
          <p:nvPr/>
        </p:nvSpPr>
        <p:spPr>
          <a:xfrm>
            <a:off x="6903720" y="17373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accent1"/>
                </a:solidFill>
              </a:rPr>
              <a:t>1 GENETICS COUNSELOR</a:t>
            </a:r>
            <a:endParaRPr lang="en-US" sz="900" dirty="0"/>
          </a:p>
        </p:txBody>
      </p:sp>
      <p:sp>
        <p:nvSpPr>
          <p:cNvPr id="21" name="Card 4 heading"/>
          <p:cNvSpPr txBox="1"/>
          <p:nvPr/>
        </p:nvSpPr>
        <p:spPr>
          <a:xfrm>
            <a:off x="6903720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Builds every pedigree by hand.</a:t>
            </a:r>
            <a:endParaRPr lang="en-US" sz="1500" dirty="0"/>
          </a:p>
        </p:txBody>
      </p:sp>
      <p:sp>
        <p:nvSpPr>
          <p:cNvPr id="22" name="Card 4 body"/>
          <p:cNvSpPr txBox="1"/>
          <p:nvPr/>
        </p:nvSpPr>
        <p:spPr>
          <a:xfrm>
            <a:off x="6903720" y="26974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Retypes each relative from Epic, chatbots and paper into Progeny, one at a time.</a:t>
            </a:r>
            <a:endParaRPr lang="en-US" sz="1200" dirty="0"/>
          </a:p>
        </p:txBody>
      </p:sp>
      <p:sp>
        <p:nvSpPr>
          <p:cNvPr id="23" name="Card 4 source"/>
          <p:cNvSpPr txBox="1"/>
          <p:nvPr/>
        </p:nvSpPr>
        <p:spPr>
          <a:xfrm>
            <a:off x="6903720" y="36758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4"/>
                </a:solidFill>
              </a:rPr>
              <a:t>D021</a:t>
            </a:r>
            <a:endParaRPr lang="en-US" sz="850" dirty="0"/>
          </a:p>
        </p:txBody>
      </p:sp>
      <p:sp>
        <p:nvSpPr>
          <p:cNvPr id="24" name="Takeaway"/>
          <p:cNvSpPr txBox="1"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+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What it changed: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guided questions · keep who said what · a one-page summary</a:t>
            </a:r>
            <a:endParaRPr lang="en-US" sz="1400" dirty="0"/>
          </a:p>
        </p:txBody>
      </p:sp>
      <p:sp>
        <p:nvSpPr>
          <p:cNvPr id="25" name="Footer"/>
          <p:cNvSpPr txBox="1"/>
          <p:nvPr/>
        </p:nvSpPr>
        <p:spPr>
          <a:xfrm>
            <a:off x="6400800" y="48006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Research · 21 interviews</a:t>
            </a:r>
            <a:endParaRPr lang="en-US" sz="900" dirty="0"/>
          </a:p>
        </p:txBody>
      </p:sp>
      <p:sp>
        <p:nvSpPr>
          <p:cNvPr id="26" name="Source note"/>
          <p:cNvSpPr txBox="1"/>
          <p:nvPr/>
        </p:nvSpPr>
        <p:spPr>
          <a:xfrm>
            <a:off x="457200" y="4800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IDs refer to our Team Hub interview logs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am 709">
  <a:themeElements>
    <a:clrScheme name="Team 709">
      <a:dk1>
        <a:srgbClr val="1F2937"/>
      </a:dk1>
      <a:lt1>
        <a:srgbClr val="FFFFFF"/>
      </a:lt1>
      <a:dk2>
        <a:srgbClr val="374151"/>
      </a:dk2>
      <a:lt2>
        <a:srgbClr val="F9FAFB"/>
      </a:lt2>
      <a:accent1>
        <a:srgbClr val="C2410C"/>
      </a:accent1>
      <a:accent2>
        <a:srgbClr val="15803D"/>
      </a:accent2>
      <a:accent3>
        <a:srgbClr val="D97706"/>
      </a:accent3>
      <a:accent4>
        <a:srgbClr val="6B7280"/>
      </a:accent4>
      <a:accent5>
        <a:srgbClr val="E5E7EB"/>
      </a:accent5>
      <a:accent6>
        <a:srgbClr val="222B3A"/>
      </a:accent6>
      <a:hlink>
        <a:srgbClr val="C2410C"/>
      </a:hlink>
      <a:folHlink>
        <a:srgbClr val="6B7280"/>
      </a:folHlink>
    </a:clrScheme>
    <a:fontScheme name="Team 709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2026-10-01T22:32:32Z</dcterms:created>
  <dcterms:modified xsi:type="dcterms:W3CDTF">2026-10-01T22:32:32Z</dcterms:modified>
</cp:coreProperties>
</file>