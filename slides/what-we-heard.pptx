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30 interviews with patients and clinicians. Logged in Team Hub so far: 15 patients, 2 PAs, an ER doctor, a genetics counselor, an internist and an RN.
PATIENTS: They know heart problems run in the family, not who, what, or at what age. ID007 only learned an uncle had a young-onset arrhythmia after the cardiologist sent them to ask relatives. ID006 said no family history until the GI doctor asked specifically; they would have answered differently if asked: “Has anyone in your family had long-term stomach problems or autoimmune disease?”
PHYSICIAN ASSISTANTS (ID009, ID014): They reconstruct what happened at the first visit before deciding the next step, and wait on outside specialists to send results back. ID009: “A result can be technically available but still not be useful until someone puts it into context.”
ER DOCTOR (ID010): Family history only matters for a few red flags: chest pain, fainting, sudden unexplained death in a young first-degree relative. A full chart review is unlikely in the ED; a flagged, scannable summary is more realistic. Bigger value in primary care.
GENETICS COUNSELOR (D021): Family history comes from Epic, an Ambry Care chatbot and paper questionnaires, and she enters it by hand into Progeny, a desktop pedigree tool, one relative at a time. Only ~20% of patients return the pre-visit questionnaire. She expects patients building their own tree would put relatives on the wrong side, so the tool has to guide them. “There has to be a human in the loop to make the judgment about what matters.”
What it changed: guided questions, keep who said what, a one-page summary.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am 709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949440" y="25603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chemeClr val="accent4"/>
                </a:solidFill>
              </a:rPr>
              <a:t>Team 709</a:t>
            </a:r>
            <a:endParaRPr lang="en-US" sz="11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457200" y="411480"/>
            <a:ext cx="585216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411480"/>
            <a:ext cx="5852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HEARD</a:t>
            </a:r>
            <a:endParaRPr lang="en-US" sz="3600" dirty="0"/>
          </a:p>
        </p:txBody>
      </p:sp>
      <p:sp>
        <p:nvSpPr>
          <p:cNvPr id="3" name="Stat number"/>
          <p:cNvSpPr txBox="1"/>
          <p:nvPr/>
        </p:nvSpPr>
        <p:spPr>
          <a:xfrm>
            <a:off x="457200" y="178308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7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</a:t>
            </a:r>
            <a:endParaRPr lang="en-US" sz="7200" dirty="0"/>
          </a:p>
        </p:txBody>
      </p:sp>
      <p:sp>
        <p:nvSpPr>
          <p:cNvPr id="4" name="Stat label"/>
          <p:cNvSpPr txBox="1"/>
          <p:nvPr/>
        </p:nvSpPr>
        <p:spPr>
          <a:xfrm>
            <a:off x="457200" y="274320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interviews</a:t>
            </a:r>
            <a:endParaRPr lang="en-US" sz="1800" dirty="0"/>
          </a:p>
        </p:txBody>
      </p:sp>
      <p:sp>
        <p:nvSpPr>
          <p:cNvPr id="5" name="Stat breakdown"/>
          <p:cNvSpPr txBox="1"/>
          <p:nvPr/>
        </p:nvSpPr>
        <p:spPr>
          <a:xfrm>
            <a:off x="457200" y="306324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with patients and clinicians</a:t>
            </a:r>
            <a:endParaRPr lang="en-US" sz="1400" dirty="0"/>
          </a:p>
        </p:txBody>
      </p:sp>
      <p:sp>
        <p:nvSpPr>
          <p:cNvPr id="6" name="Card 1"/>
          <p:cNvSpPr/>
          <p:nvPr/>
        </p:nvSpPr>
        <p:spPr>
          <a:xfrm>
            <a:off x="2743200" y="1371600"/>
            <a:ext cx="288036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7" name="Card 1 label"/>
          <p:cNvSpPr txBox="1"/>
          <p:nvPr/>
        </p:nvSpPr>
        <p:spPr>
          <a:xfrm>
            <a:off x="2944368" y="1554480"/>
            <a:ext cx="247802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PATIENTS</a:t>
            </a:r>
            <a:endParaRPr lang="en-US" sz="1000" dirty="0"/>
          </a:p>
        </p:txBody>
      </p:sp>
      <p:sp>
        <p:nvSpPr>
          <p:cNvPr id="8" name="Card 1 heading"/>
          <p:cNvSpPr txBox="1"/>
          <p:nvPr/>
        </p:nvSpPr>
        <p:spPr>
          <a:xfrm>
            <a:off x="2944368" y="1828800"/>
            <a:ext cx="24780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“It runs in the family.” But who?</a:t>
            </a:r>
            <a:endParaRPr lang="en-US" sz="1800" dirty="0"/>
          </a:p>
        </p:txBody>
      </p:sp>
      <p:sp>
        <p:nvSpPr>
          <p:cNvPr id="9" name="Card 2"/>
          <p:cNvSpPr/>
          <p:nvPr/>
        </p:nvSpPr>
        <p:spPr>
          <a:xfrm>
            <a:off x="5806440" y="1371600"/>
            <a:ext cx="288036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0" name="Card 2 label"/>
          <p:cNvSpPr txBox="1"/>
          <p:nvPr/>
        </p:nvSpPr>
        <p:spPr>
          <a:xfrm>
            <a:off x="6007608" y="1554480"/>
            <a:ext cx="247802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PHYSICIAN ASSISTANTS</a:t>
            </a:r>
            <a:endParaRPr lang="en-US" sz="1000" dirty="0"/>
          </a:p>
        </p:txBody>
      </p:sp>
      <p:sp>
        <p:nvSpPr>
          <p:cNvPr id="11" name="Card 2 heading"/>
          <p:cNvSpPr txBox="1"/>
          <p:nvPr/>
        </p:nvSpPr>
        <p:spPr>
          <a:xfrm>
            <a:off x="6007608" y="1828800"/>
            <a:ext cx="24780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They rebuild the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story every visit.</a:t>
            </a:r>
            <a:endParaRPr lang="en-US" sz="1800" dirty="0"/>
          </a:p>
        </p:txBody>
      </p:sp>
      <p:sp>
        <p:nvSpPr>
          <p:cNvPr id="12" name="Card 3"/>
          <p:cNvSpPr/>
          <p:nvPr/>
        </p:nvSpPr>
        <p:spPr>
          <a:xfrm>
            <a:off x="2743200" y="2880360"/>
            <a:ext cx="288036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3" name="Card 3 label"/>
          <p:cNvSpPr txBox="1"/>
          <p:nvPr/>
        </p:nvSpPr>
        <p:spPr>
          <a:xfrm>
            <a:off x="2944368" y="3063240"/>
            <a:ext cx="247802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ER DOCTOR</a:t>
            </a:r>
            <a:endParaRPr lang="en-US" sz="1000" dirty="0"/>
          </a:p>
        </p:txBody>
      </p:sp>
      <p:sp>
        <p:nvSpPr>
          <p:cNvPr id="14" name="Card 3 heading"/>
          <p:cNvSpPr txBox="1"/>
          <p:nvPr/>
        </p:nvSpPr>
        <p:spPr>
          <a:xfrm>
            <a:off x="2944368" y="3337560"/>
            <a:ext cx="24780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Red flags,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a full chart.</a:t>
            </a:r>
            <a:endParaRPr lang="en-US" sz="1800" dirty="0"/>
          </a:p>
        </p:txBody>
      </p:sp>
      <p:sp>
        <p:nvSpPr>
          <p:cNvPr id="15" name="Card 4"/>
          <p:cNvSpPr/>
          <p:nvPr/>
        </p:nvSpPr>
        <p:spPr>
          <a:xfrm>
            <a:off x="5806440" y="2880360"/>
            <a:ext cx="288036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6" name="Card 4 label"/>
          <p:cNvSpPr txBox="1"/>
          <p:nvPr/>
        </p:nvSpPr>
        <p:spPr>
          <a:xfrm>
            <a:off x="6007608" y="3063240"/>
            <a:ext cx="247802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GENETICS COUNSELOR</a:t>
            </a:r>
            <a:endParaRPr lang="en-US" sz="1000" dirty="0"/>
          </a:p>
        </p:txBody>
      </p:sp>
      <p:sp>
        <p:nvSpPr>
          <p:cNvPr id="17" name="Card 4 heading"/>
          <p:cNvSpPr txBox="1"/>
          <p:nvPr/>
        </p:nvSpPr>
        <p:spPr>
          <a:xfrm>
            <a:off x="6007608" y="3337560"/>
            <a:ext cx="24780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pedigree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by hand.</a:t>
            </a:r>
            <a:endParaRPr lang="en-US" sz="1800" dirty="0"/>
          </a:p>
        </p:txBody>
      </p:sp>
      <p:sp>
        <p:nvSpPr>
          <p:cNvPr id="18" name="Footer"/>
          <p:cNvSpPr txBox="1"/>
          <p:nvPr/>
        </p:nvSpPr>
        <p:spPr>
          <a:xfrm>
            <a:off x="6400800" y="4773168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A3AF"/>
                </a:solidFill>
              </a:rPr>
              <a:t>Research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am 709">
  <a:themeElements>
    <a:clrScheme name="Team 709">
      <a:dk1>
        <a:srgbClr val="1F2937"/>
      </a:dk1>
      <a:lt1>
        <a:srgbClr val="FFFFFF"/>
      </a:lt1>
      <a:dk2>
        <a:srgbClr val="374151"/>
      </a:dk2>
      <a:lt2>
        <a:srgbClr val="F9FAFB"/>
      </a:lt2>
      <a:accent1>
        <a:srgbClr val="C2410C"/>
      </a:accent1>
      <a:accent2>
        <a:srgbClr val="15803D"/>
      </a:accent2>
      <a:accent3>
        <a:srgbClr val="D97706"/>
      </a:accent3>
      <a:accent4>
        <a:srgbClr val="6B7280"/>
      </a:accent4>
      <a:accent5>
        <a:srgbClr val="E5E7EB"/>
      </a:accent5>
      <a:accent6>
        <a:srgbClr val="222B3A"/>
      </a:accent6>
      <a:hlink>
        <a:srgbClr val="C2410C"/>
      </a:hlink>
      <a:folHlink>
        <a:srgbClr val="6B7280"/>
      </a:folHlink>
    </a:clrScheme>
    <a:fontScheme name="Team 709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2026-10-01T22:34:16Z</dcterms:created>
  <dcterms:modified xsi:type="dcterms:W3CDTF">2026-10-01T22:34:16Z</dcterms:modified>
</cp:coreProperties>
</file>